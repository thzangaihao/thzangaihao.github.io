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68A2"/>
    <a:srgbClr val="F6CE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322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5BC7DF-AF79-FE3C-9B94-B3A05C290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C13EEB-759E-A105-42CC-FEAE01B50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FC872E-41A0-C8B8-02D0-E4F9BBAA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BB73-EFBF-4FF0-84FD-E8B3AE80A306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16E4B4-3DF6-9D2A-45A7-2805E961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A07821-1624-9070-C5E3-784678E1C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F62D-17D6-42C0-95D8-9DB82A05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056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EC3D26-1D66-15EE-34A0-F9990061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0346D1-E24B-9D23-AA84-0F095DD2F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5E8BC5-291C-3D87-4D3A-538ADAE11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BB73-EFBF-4FF0-84FD-E8B3AE80A306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47DD20-85DC-422E-13DD-3933F5BD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CDE778-7D42-63DD-983B-0194DE1B9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F62D-17D6-42C0-95D8-9DB82A05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708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B6D8C5-2C63-78A0-C427-18C1C12A9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6F2C6D-1EFD-F20E-233A-543044F1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E12CEC-DED4-7F36-6E42-F7A308C85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BB73-EFBF-4FF0-84FD-E8B3AE80A306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ECC7CB-AEC7-CB5B-9A27-E4FE9B2D5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5337C6-1E14-D481-4838-590ED89E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F62D-17D6-42C0-95D8-9DB82A05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277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0FE399-FC8A-50F4-65F3-56A13A676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092C9D-7AB7-6055-1D44-543110CC5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683479-2250-BFA5-1D77-3581F2B3F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97D0D9-706E-494A-B7E7-272CF31D1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BB73-EFBF-4FF0-84FD-E8B3AE80A306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EC94A1-BABB-166C-BDD3-14121209D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ADC5E7-FF73-2EE3-509C-82FC2094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F62D-17D6-42C0-95D8-9DB82A05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220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820B20-F21A-9CD7-5F29-7F3C1E38B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9ED3C9-CA46-D45B-A580-5A98D8E89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554F7F-E2E5-B9A4-C33B-2D255DD5C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839C97-24B6-C528-0299-5FF7C6A75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48A0E0-AB15-1EF3-1562-0AD56328F7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24C09E-B0BC-D7F9-8674-D64B2FE5C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BB73-EFBF-4FF0-84FD-E8B3AE80A306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BCEC2E-BAE3-B413-77BF-0583FCA10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09F08C-8270-C7CB-24AA-EC0DBF6D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F62D-17D6-42C0-95D8-9DB82A05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4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67DDB2-711C-3370-3C95-FF7288D1D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339F86-3233-7D27-C0C4-27919406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BB73-EFBF-4FF0-84FD-E8B3AE80A306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100116-394C-8F95-AE5F-E1086F3FC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E79B82-3415-84CF-098B-9D89C6573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F62D-17D6-42C0-95D8-9DB82A05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56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FB63B7-786A-2680-68DD-EEE10B50B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BB73-EFBF-4FF0-84FD-E8B3AE80A306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80F07F-3F4F-D37B-9F68-02D0C342C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823D9F-076D-4C17-8071-FC2F82C7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F62D-17D6-42C0-95D8-9DB82A05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436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1D790-6F3C-0287-3759-D3B5DB01E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F0AAB4-2067-5B28-AB7B-DC0D4BB62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8531A3-1372-687E-AFDD-4281F74A2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0D670C-FF22-14B9-C3BB-A1E42AF5D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BB73-EFBF-4FF0-84FD-E8B3AE80A306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C7947C-AADA-EB1E-E1E5-749BF6DC0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E23E7B-C89A-BEA4-6DEA-31B62662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F62D-17D6-42C0-95D8-9DB82A05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679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E53E95-FBDA-F1D3-E19D-492D8C591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E00E4C0-E357-3777-0C98-673F6C4AC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D35516-5FF6-FE38-C3FE-B8FFBCFCB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EB3E0D-ED26-E26A-9FE4-4DCA9D95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BB73-EFBF-4FF0-84FD-E8B3AE80A306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D0663B-CC13-AFE6-01FE-1D668546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2DB0DB-B297-4A85-D0E9-D33515C97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F62D-17D6-42C0-95D8-9DB82A05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61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A314F0-61A5-AF54-D32B-3694049AC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4DDA4D-FC97-6EAA-8707-16A7582AD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D259C1-1618-A6CA-0D8C-9340E18D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BB73-EFBF-4FF0-84FD-E8B3AE80A306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12A549-9646-E4C2-0C14-0483DA7D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7A4AF2-13FE-EE4A-2F71-888EE8BF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F62D-17D6-42C0-95D8-9DB82A05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520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8E4BA4A-EA95-BCE2-4F1F-F0B26ECFEB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884D32-BB86-E8D9-358F-B77CDA261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3D273D-E855-297D-7817-9DD648365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BB73-EFBF-4FF0-84FD-E8B3AE80A306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0FC1C3-3CC3-93C5-D235-EF056D8C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793C59-C1E0-3EAB-0AB9-27EA7366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F62D-17D6-42C0-95D8-9DB82A05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266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1956780-52E4-C166-1D0F-1A46260CE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1F4C7C-05EC-D065-34D0-B601B69E2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3F4BFA-7ED1-C640-FB79-CEC8D0EAB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4BB73-EFBF-4FF0-84FD-E8B3AE80A306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B6BF9E-7802-4310-1A96-969473B84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442724-BD41-AC83-9A47-7F8661A35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FF62D-17D6-42C0-95D8-9DB82A05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76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EAD3A69E-BC70-7F9D-F924-8BDA2DEAB966}"/>
              </a:ext>
            </a:extLst>
          </p:cNvPr>
          <p:cNvGrpSpPr/>
          <p:nvPr/>
        </p:nvGrpSpPr>
        <p:grpSpPr>
          <a:xfrm>
            <a:off x="1236916" y="2523490"/>
            <a:ext cx="3633872" cy="2074579"/>
            <a:chOff x="2100516" y="2523490"/>
            <a:chExt cx="3633872" cy="2074579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F99904FF-5540-27C6-700F-40A4DC8850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1195" y="2564130"/>
              <a:ext cx="0" cy="17877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E9786A39-5FAD-05E9-FC06-34D42F77727E}"/>
                </a:ext>
              </a:extLst>
            </p:cNvPr>
            <p:cNvCxnSpPr>
              <a:cxnSpLocks/>
            </p:cNvCxnSpPr>
            <p:nvPr/>
          </p:nvCxnSpPr>
          <p:spPr>
            <a:xfrm>
              <a:off x="2771195" y="4351848"/>
              <a:ext cx="26402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95D1E56-4F69-816D-8029-746A99F8ECA9}"/>
                </a:ext>
              </a:extLst>
            </p:cNvPr>
            <p:cNvCxnSpPr>
              <a:cxnSpLocks/>
            </p:cNvCxnSpPr>
            <p:nvPr/>
          </p:nvCxnSpPr>
          <p:spPr>
            <a:xfrm>
              <a:off x="2927350" y="3554730"/>
              <a:ext cx="219456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80F8861-5D08-D277-C7A3-C3140F9BEE7B}"/>
                </a:ext>
              </a:extLst>
            </p:cNvPr>
            <p:cNvSpPr txBox="1"/>
            <p:nvPr/>
          </p:nvSpPr>
          <p:spPr>
            <a:xfrm>
              <a:off x="2100516" y="2523490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dirty="0"/>
                <a:t>荧光强度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476959D-4A85-7294-3ADB-6CF51956815E}"/>
                </a:ext>
              </a:extLst>
            </p:cNvPr>
            <p:cNvSpPr txBox="1"/>
            <p:nvPr/>
          </p:nvSpPr>
          <p:spPr>
            <a:xfrm>
              <a:off x="5036761" y="4351848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dirty="0"/>
                <a:t>循环轮数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68EFAA2F-9586-920A-2BAF-DFEB3DFB94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9032" y="2911889"/>
              <a:ext cx="1244600" cy="1221961"/>
            </a:xfrm>
            <a:prstGeom prst="line">
              <a:avLst/>
            </a:prstGeom>
            <a:ln>
              <a:solidFill>
                <a:srgbClr val="2C68A2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52D9EF6F-5260-8AA1-13F1-8DA26B914EEF}"/>
                </a:ext>
              </a:extLst>
            </p:cNvPr>
            <p:cNvGrpSpPr/>
            <p:nvPr/>
          </p:nvGrpSpPr>
          <p:grpSpPr>
            <a:xfrm>
              <a:off x="3601896" y="3918060"/>
              <a:ext cx="83817" cy="433788"/>
              <a:chOff x="2904666" y="4310490"/>
              <a:chExt cx="83817" cy="433788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470409BC-CB31-8F45-DC70-095AF1BDBD06}"/>
                  </a:ext>
                </a:extLst>
              </p:cNvPr>
              <p:cNvSpPr/>
              <p:nvPr/>
            </p:nvSpPr>
            <p:spPr>
              <a:xfrm>
                <a:off x="2904666" y="4310490"/>
                <a:ext cx="83817" cy="83817"/>
              </a:xfrm>
              <a:prstGeom prst="ellipse">
                <a:avLst/>
              </a:prstGeom>
              <a:solidFill>
                <a:srgbClr val="F6CE45"/>
              </a:solidFill>
              <a:ln>
                <a:solidFill>
                  <a:srgbClr val="2C68A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6B0A512C-250E-4814-47F6-717A4ADEEB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46574" y="4672965"/>
                <a:ext cx="0" cy="7131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E164CAA2-9679-A76A-EB0A-B3BA71BAEB41}"/>
                </a:ext>
              </a:extLst>
            </p:cNvPr>
            <p:cNvGrpSpPr/>
            <p:nvPr/>
          </p:nvGrpSpPr>
          <p:grpSpPr>
            <a:xfrm>
              <a:off x="3876803" y="3667540"/>
              <a:ext cx="83817" cy="684308"/>
              <a:chOff x="3170555" y="4059970"/>
              <a:chExt cx="83817" cy="684308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CE73FF89-7483-5ECC-4AFC-592CEA47BB58}"/>
                  </a:ext>
                </a:extLst>
              </p:cNvPr>
              <p:cNvSpPr/>
              <p:nvPr/>
            </p:nvSpPr>
            <p:spPr>
              <a:xfrm>
                <a:off x="3170555" y="4059970"/>
                <a:ext cx="83817" cy="83817"/>
              </a:xfrm>
              <a:prstGeom prst="ellipse">
                <a:avLst/>
              </a:prstGeom>
              <a:solidFill>
                <a:srgbClr val="F6CE45"/>
              </a:solidFill>
              <a:ln>
                <a:solidFill>
                  <a:srgbClr val="2C68A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8D71DD6C-2EAD-A993-EE00-7777E3CDD4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2463" y="4672965"/>
                <a:ext cx="0" cy="7131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908A67F6-0608-042D-44CB-5784389E00B5}"/>
                </a:ext>
              </a:extLst>
            </p:cNvPr>
            <p:cNvGrpSpPr/>
            <p:nvPr/>
          </p:nvGrpSpPr>
          <p:grpSpPr>
            <a:xfrm>
              <a:off x="4151710" y="3376077"/>
              <a:ext cx="83817" cy="975771"/>
              <a:chOff x="3457609" y="3768507"/>
              <a:chExt cx="83817" cy="975771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862CA8CF-077C-C19C-44AA-958D50233796}"/>
                  </a:ext>
                </a:extLst>
              </p:cNvPr>
              <p:cNvSpPr/>
              <p:nvPr/>
            </p:nvSpPr>
            <p:spPr>
              <a:xfrm>
                <a:off x="3457609" y="3768507"/>
                <a:ext cx="83817" cy="83817"/>
              </a:xfrm>
              <a:prstGeom prst="ellipse">
                <a:avLst/>
              </a:prstGeom>
              <a:solidFill>
                <a:srgbClr val="F6CE45"/>
              </a:solidFill>
              <a:ln>
                <a:solidFill>
                  <a:srgbClr val="2C68A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2248EBB6-BE2F-66C5-6ECC-61B2FFADB6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9517" y="4672965"/>
                <a:ext cx="0" cy="7131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AB488319-3ACA-2703-3FA7-3FD2A8AFA8F3}"/>
                </a:ext>
              </a:extLst>
            </p:cNvPr>
            <p:cNvGrpSpPr/>
            <p:nvPr/>
          </p:nvGrpSpPr>
          <p:grpSpPr>
            <a:xfrm>
              <a:off x="4426616" y="3111394"/>
              <a:ext cx="83817" cy="1240454"/>
              <a:chOff x="3729386" y="3503824"/>
              <a:chExt cx="83817" cy="1240454"/>
            </a:xfrm>
          </p:grpSpPr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BC369BAF-1ADD-297C-7B19-6BA568F8C635}"/>
                  </a:ext>
                </a:extLst>
              </p:cNvPr>
              <p:cNvSpPr/>
              <p:nvPr/>
            </p:nvSpPr>
            <p:spPr>
              <a:xfrm>
                <a:off x="3729386" y="3503824"/>
                <a:ext cx="83817" cy="83817"/>
              </a:xfrm>
              <a:prstGeom prst="ellipse">
                <a:avLst/>
              </a:prstGeom>
              <a:solidFill>
                <a:srgbClr val="F6CE45"/>
              </a:solidFill>
              <a:ln>
                <a:solidFill>
                  <a:srgbClr val="2C68A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6DC53D6F-CE91-C3D2-8582-6C0ADA5ADE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1294" y="4672965"/>
                <a:ext cx="0" cy="7131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28A42C2-3A48-D92D-8105-0ECA07FCCE31}"/>
                </a:ext>
              </a:extLst>
            </p:cNvPr>
            <p:cNvSpPr txBox="1"/>
            <p:nvPr/>
          </p:nvSpPr>
          <p:spPr>
            <a:xfrm>
              <a:off x="2819640" y="3314558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dirty="0"/>
                <a:t>荧光阈值</a:t>
              </a: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46D26E74-4B87-08A3-3999-6476D39DAB62}"/>
                </a:ext>
              </a:extLst>
            </p:cNvPr>
            <p:cNvGrpSpPr/>
            <p:nvPr/>
          </p:nvGrpSpPr>
          <p:grpSpPr>
            <a:xfrm>
              <a:off x="3053975" y="2698612"/>
              <a:ext cx="547921" cy="215444"/>
              <a:chOff x="2380974" y="3106677"/>
              <a:chExt cx="547921" cy="215444"/>
            </a:xfrm>
          </p:grpSpPr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A835D961-813C-FA2D-5E58-EF882BEB366F}"/>
                  </a:ext>
                </a:extLst>
              </p:cNvPr>
              <p:cNvSpPr/>
              <p:nvPr/>
            </p:nvSpPr>
            <p:spPr>
              <a:xfrm>
                <a:off x="2380974" y="3172491"/>
                <a:ext cx="83817" cy="83817"/>
              </a:xfrm>
              <a:prstGeom prst="ellipse">
                <a:avLst/>
              </a:prstGeom>
              <a:solidFill>
                <a:srgbClr val="F6CE45"/>
              </a:solidFill>
              <a:ln>
                <a:solidFill>
                  <a:srgbClr val="2C68A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587484A-8D32-9FCD-DD6C-FB1AF89D58AC}"/>
                  </a:ext>
                </a:extLst>
              </p:cNvPr>
              <p:cNvSpPr txBox="1"/>
              <p:nvPr/>
            </p:nvSpPr>
            <p:spPr>
              <a:xfrm>
                <a:off x="2436452" y="3106677"/>
                <a:ext cx="49244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800" dirty="0"/>
                  <a:t>采集点</a:t>
                </a:r>
              </a:p>
            </p:txBody>
          </p: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9C701301-0CA1-3E65-3DE1-D331692A2890}"/>
                </a:ext>
              </a:extLst>
            </p:cNvPr>
            <p:cNvSpPr txBox="1"/>
            <p:nvPr/>
          </p:nvSpPr>
          <p:spPr>
            <a:xfrm>
              <a:off x="3484145" y="4351848"/>
              <a:ext cx="3193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dirty="0"/>
                <a:t>24</a:t>
              </a:r>
              <a:endParaRPr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DC59C78B-B7AB-C2FB-7827-046B778F4698}"/>
                </a:ext>
              </a:extLst>
            </p:cNvPr>
            <p:cNvSpPr txBox="1"/>
            <p:nvPr/>
          </p:nvSpPr>
          <p:spPr>
            <a:xfrm>
              <a:off x="3759051" y="4351848"/>
              <a:ext cx="3193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dirty="0"/>
                <a:t>25</a:t>
              </a:r>
              <a:endParaRPr lang="zh-CN" altLang="en-US" sz="1000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2E350E8-C24B-2E16-C358-6488D78E8A6B}"/>
                </a:ext>
              </a:extLst>
            </p:cNvPr>
            <p:cNvSpPr txBox="1"/>
            <p:nvPr/>
          </p:nvSpPr>
          <p:spPr>
            <a:xfrm>
              <a:off x="4033956" y="4351848"/>
              <a:ext cx="3193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dirty="0"/>
                <a:t>26</a:t>
              </a:r>
              <a:endParaRPr lang="zh-CN" altLang="en-US" sz="10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0E31773-6872-E445-9168-3CA989D0E518}"/>
                </a:ext>
              </a:extLst>
            </p:cNvPr>
            <p:cNvSpPr txBox="1"/>
            <p:nvPr/>
          </p:nvSpPr>
          <p:spPr>
            <a:xfrm>
              <a:off x="4308862" y="4351848"/>
              <a:ext cx="3193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dirty="0"/>
                <a:t>27</a:t>
              </a:r>
              <a:endParaRPr lang="zh-CN" altLang="en-US" sz="1000" dirty="0"/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913E9F5A-07A3-983F-9F61-9824C474AC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5110" y="3554730"/>
              <a:ext cx="0" cy="79711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AC1C27F9-F475-90FA-E2B1-FA36B3229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1852" y="4001877"/>
              <a:ext cx="295441" cy="3555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2A42886-5F7F-F0DD-59E2-7B9B7CB02AB5}"/>
                </a:ext>
              </a:extLst>
            </p:cNvPr>
            <p:cNvSpPr txBox="1"/>
            <p:nvPr/>
          </p:nvSpPr>
          <p:spPr>
            <a:xfrm>
              <a:off x="4271791" y="3830178"/>
              <a:ext cx="64953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/>
                <a:t>Cq:</a:t>
              </a:r>
              <a:r>
                <a:rPr lang="zh-CN" altLang="en-US" sz="1000" b="1" dirty="0"/>
                <a:t> </a:t>
              </a:r>
              <a:r>
                <a:rPr lang="en-US" altLang="zh-CN" sz="1000" b="1" dirty="0"/>
                <a:t>25.5</a:t>
              </a:r>
              <a:endParaRPr lang="zh-CN" altLang="en-US" sz="1000" b="1" dirty="0"/>
            </a:p>
          </p:txBody>
        </p:sp>
      </p:grp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1250AB98-59F8-32B4-F56F-9E64DE798712}"/>
              </a:ext>
            </a:extLst>
          </p:cNvPr>
          <p:cNvCxnSpPr>
            <a:cxnSpLocks/>
          </p:cNvCxnSpPr>
          <p:nvPr/>
        </p:nvCxnSpPr>
        <p:spPr>
          <a:xfrm>
            <a:off x="2216150" y="3707130"/>
            <a:ext cx="219456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02B9B684-5595-4264-A970-368D492D7310}"/>
              </a:ext>
            </a:extLst>
          </p:cNvPr>
          <p:cNvGrpSpPr/>
          <p:nvPr/>
        </p:nvGrpSpPr>
        <p:grpSpPr>
          <a:xfrm>
            <a:off x="6093515" y="2564130"/>
            <a:ext cx="5391285" cy="2071438"/>
            <a:chOff x="6093515" y="2564130"/>
            <a:chExt cx="5391285" cy="2071438"/>
          </a:xfrm>
        </p:grpSpPr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C9021352-A7B1-9640-37D1-C2D5F2E28176}"/>
                </a:ext>
              </a:extLst>
            </p:cNvPr>
            <p:cNvGrpSpPr/>
            <p:nvPr/>
          </p:nvGrpSpPr>
          <p:grpSpPr>
            <a:xfrm>
              <a:off x="6093515" y="2564130"/>
              <a:ext cx="2640275" cy="1787719"/>
              <a:chOff x="6093515" y="2564130"/>
              <a:chExt cx="2640275" cy="1787719"/>
            </a:xfrm>
          </p:grpSpPr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AC7B6E38-3AA1-60BF-F663-D613DCBAA5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3515" y="2564130"/>
                <a:ext cx="0" cy="17877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>
                <a:extLst>
                  <a:ext uri="{FF2B5EF4-FFF2-40B4-BE49-F238E27FC236}">
                    <a16:creationId xmlns:a16="http://schemas.microsoft.com/office/drawing/2014/main" id="{EDF15C7B-E8AD-8B8C-D746-28C474DAB3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3515" y="4351848"/>
                <a:ext cx="26402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9D6270C9-827B-C6A0-531A-DB967807EE4D}"/>
                  </a:ext>
                </a:extLst>
              </p:cNvPr>
              <p:cNvSpPr/>
              <p:nvPr/>
            </p:nvSpPr>
            <p:spPr>
              <a:xfrm>
                <a:off x="6362700" y="2981074"/>
                <a:ext cx="247638" cy="1370773"/>
              </a:xfrm>
              <a:prstGeom prst="rect">
                <a:avLst/>
              </a:prstGeom>
              <a:solidFill>
                <a:srgbClr val="F6CE4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D857353C-8657-A213-05D5-FE5A72577959}"/>
                  </a:ext>
                </a:extLst>
              </p:cNvPr>
              <p:cNvSpPr/>
              <p:nvPr/>
            </p:nvSpPr>
            <p:spPr>
              <a:xfrm>
                <a:off x="6721074" y="3314558"/>
                <a:ext cx="247638" cy="1037291"/>
              </a:xfrm>
              <a:prstGeom prst="rect">
                <a:avLst/>
              </a:prstGeom>
              <a:solidFill>
                <a:srgbClr val="2C68A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D017C79D-DB1E-811F-F387-F7362EB6D6F4}"/>
                  </a:ext>
                </a:extLst>
              </p:cNvPr>
              <p:cNvSpPr/>
              <p:nvPr/>
            </p:nvSpPr>
            <p:spPr>
              <a:xfrm>
                <a:off x="7585427" y="3429000"/>
                <a:ext cx="247638" cy="922847"/>
              </a:xfrm>
              <a:prstGeom prst="rect">
                <a:avLst/>
              </a:prstGeom>
              <a:solidFill>
                <a:srgbClr val="F6CE4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2E70763B-23D6-33FC-2023-3BCBD2934ABC}"/>
                  </a:ext>
                </a:extLst>
              </p:cNvPr>
              <p:cNvSpPr/>
              <p:nvPr/>
            </p:nvSpPr>
            <p:spPr>
              <a:xfrm>
                <a:off x="7943801" y="3510280"/>
                <a:ext cx="247638" cy="841568"/>
              </a:xfrm>
              <a:prstGeom prst="rect">
                <a:avLst/>
              </a:prstGeom>
              <a:solidFill>
                <a:srgbClr val="2C68A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F1190C1D-05F8-558A-95B3-0B85A8E72E47}"/>
                  </a:ext>
                </a:extLst>
              </p:cNvPr>
              <p:cNvGrpSpPr/>
              <p:nvPr/>
            </p:nvGrpSpPr>
            <p:grpSpPr>
              <a:xfrm>
                <a:off x="7585427" y="2696434"/>
                <a:ext cx="760047" cy="401314"/>
                <a:chOff x="7661421" y="2579760"/>
                <a:chExt cx="760047" cy="401314"/>
              </a:xfrm>
            </p:grpSpPr>
            <p:grpSp>
              <p:nvGrpSpPr>
                <p:cNvPr id="75" name="组合 74">
                  <a:extLst>
                    <a:ext uri="{FF2B5EF4-FFF2-40B4-BE49-F238E27FC236}">
                      <a16:creationId xmlns:a16="http://schemas.microsoft.com/office/drawing/2014/main" id="{9C56261F-909B-DABE-7F60-A499D6834EC6}"/>
                    </a:ext>
                  </a:extLst>
                </p:cNvPr>
                <p:cNvGrpSpPr/>
                <p:nvPr/>
              </p:nvGrpSpPr>
              <p:grpSpPr>
                <a:xfrm>
                  <a:off x="7661421" y="2579760"/>
                  <a:ext cx="760045" cy="230832"/>
                  <a:chOff x="7661421" y="2579760"/>
                  <a:chExt cx="760045" cy="230832"/>
                </a:xfrm>
              </p:grpSpPr>
              <p:sp>
                <p:nvSpPr>
                  <p:cNvPr id="68" name="矩形 67">
                    <a:extLst>
                      <a:ext uri="{FF2B5EF4-FFF2-40B4-BE49-F238E27FC236}">
                        <a16:creationId xmlns:a16="http://schemas.microsoft.com/office/drawing/2014/main" id="{E0A2C3E2-1B53-7C65-2A37-49825CA85B9F}"/>
                      </a:ext>
                    </a:extLst>
                  </p:cNvPr>
                  <p:cNvSpPr/>
                  <p:nvPr/>
                </p:nvSpPr>
                <p:spPr>
                  <a:xfrm>
                    <a:off x="7661421" y="2659176"/>
                    <a:ext cx="72000" cy="72000"/>
                  </a:xfrm>
                  <a:prstGeom prst="rect">
                    <a:avLst/>
                  </a:prstGeom>
                  <a:solidFill>
                    <a:srgbClr val="F6CE45"/>
                  </a:solidFill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" name="文本框 69">
                    <a:extLst>
                      <a:ext uri="{FF2B5EF4-FFF2-40B4-BE49-F238E27FC236}">
                        <a16:creationId xmlns:a16="http://schemas.microsoft.com/office/drawing/2014/main" id="{4CD7AD8A-20A7-B93C-979E-C5E4D06E4C48}"/>
                      </a:ext>
                    </a:extLst>
                  </p:cNvPr>
                  <p:cNvSpPr txBox="1"/>
                  <p:nvPr/>
                </p:nvSpPr>
                <p:spPr>
                  <a:xfrm>
                    <a:off x="7704888" y="2579760"/>
                    <a:ext cx="716578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900" dirty="0"/>
                      <a:t>内参基因</a:t>
                    </a:r>
                  </a:p>
                </p:txBody>
              </p:sp>
            </p:grpSp>
            <p:grpSp>
              <p:nvGrpSpPr>
                <p:cNvPr id="76" name="组合 75">
                  <a:extLst>
                    <a:ext uri="{FF2B5EF4-FFF2-40B4-BE49-F238E27FC236}">
                      <a16:creationId xmlns:a16="http://schemas.microsoft.com/office/drawing/2014/main" id="{80305B8E-27E0-35C3-5392-F97AF497220A}"/>
                    </a:ext>
                  </a:extLst>
                </p:cNvPr>
                <p:cNvGrpSpPr/>
                <p:nvPr/>
              </p:nvGrpSpPr>
              <p:grpSpPr>
                <a:xfrm>
                  <a:off x="7661421" y="2750242"/>
                  <a:ext cx="760047" cy="230832"/>
                  <a:chOff x="7661421" y="2725378"/>
                  <a:chExt cx="760047" cy="230832"/>
                </a:xfrm>
              </p:grpSpPr>
              <p:sp>
                <p:nvSpPr>
                  <p:cNvPr id="69" name="矩形 68">
                    <a:extLst>
                      <a:ext uri="{FF2B5EF4-FFF2-40B4-BE49-F238E27FC236}">
                        <a16:creationId xmlns:a16="http://schemas.microsoft.com/office/drawing/2014/main" id="{2DEE21C1-5C3B-6DE4-AB99-44CC70D65BD0}"/>
                      </a:ext>
                    </a:extLst>
                  </p:cNvPr>
                  <p:cNvSpPr/>
                  <p:nvPr/>
                </p:nvSpPr>
                <p:spPr>
                  <a:xfrm>
                    <a:off x="7661421" y="2804794"/>
                    <a:ext cx="72000" cy="72000"/>
                  </a:xfrm>
                  <a:prstGeom prst="rect">
                    <a:avLst/>
                  </a:prstGeom>
                  <a:solidFill>
                    <a:srgbClr val="2C68A2"/>
                  </a:solidFill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B4BFF1A7-C13A-BACB-A665-FDCE09FA0A8A}"/>
                      </a:ext>
                    </a:extLst>
                  </p:cNvPr>
                  <p:cNvSpPr txBox="1"/>
                  <p:nvPr/>
                </p:nvSpPr>
                <p:spPr>
                  <a:xfrm>
                    <a:off x="7704888" y="2725378"/>
                    <a:ext cx="716580" cy="2308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zh-CN" altLang="en-US" sz="900" dirty="0"/>
                      <a:t>目的基因</a:t>
                    </a:r>
                  </a:p>
                </p:txBody>
              </p:sp>
            </p:grpSp>
          </p:grpSp>
        </p:grpSp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0A9AEDF2-D908-5B03-E1BC-6EA474F66BC2}"/>
                </a:ext>
              </a:extLst>
            </p:cNvPr>
            <p:cNvGrpSpPr/>
            <p:nvPr/>
          </p:nvGrpSpPr>
          <p:grpSpPr>
            <a:xfrm>
              <a:off x="8829016" y="2564130"/>
              <a:ext cx="2655784" cy="1787719"/>
              <a:chOff x="8829016" y="2564130"/>
              <a:chExt cx="2655784" cy="1787719"/>
            </a:xfrm>
          </p:grpSpPr>
          <p:cxnSp>
            <p:nvCxnSpPr>
              <p:cNvPr id="91" name="直接箭头连接符 90">
                <a:extLst>
                  <a:ext uri="{FF2B5EF4-FFF2-40B4-BE49-F238E27FC236}">
                    <a16:creationId xmlns:a16="http://schemas.microsoft.com/office/drawing/2014/main" id="{DFB87A39-3272-6476-E99D-73F33596BB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44525" y="2564130"/>
                <a:ext cx="0" cy="17877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直接箭头连接符 91">
                <a:extLst>
                  <a:ext uri="{FF2B5EF4-FFF2-40B4-BE49-F238E27FC236}">
                    <a16:creationId xmlns:a16="http://schemas.microsoft.com/office/drawing/2014/main" id="{7C25213A-3255-5F1F-6CBA-0FCDF98C7F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44525" y="4351848"/>
                <a:ext cx="26402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39C1A063-E7C1-14C6-56F2-B2DD4BC5E5D3}"/>
                  </a:ext>
                </a:extLst>
              </p:cNvPr>
              <p:cNvSpPr/>
              <p:nvPr/>
            </p:nvSpPr>
            <p:spPr>
              <a:xfrm>
                <a:off x="9113710" y="3918060"/>
                <a:ext cx="247638" cy="433787"/>
              </a:xfrm>
              <a:prstGeom prst="rect">
                <a:avLst/>
              </a:prstGeom>
              <a:solidFill>
                <a:srgbClr val="F6CE4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4EE00782-4A75-BDDD-86E1-4F54118D69D1}"/>
                  </a:ext>
                </a:extLst>
              </p:cNvPr>
              <p:cNvSpPr/>
              <p:nvPr/>
            </p:nvSpPr>
            <p:spPr>
              <a:xfrm>
                <a:off x="9472084" y="4023594"/>
                <a:ext cx="247638" cy="328255"/>
              </a:xfrm>
              <a:prstGeom prst="rect">
                <a:avLst/>
              </a:prstGeom>
              <a:solidFill>
                <a:srgbClr val="2C68A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54BF8B48-FC60-165A-BED7-F93012FC0CBB}"/>
                  </a:ext>
                </a:extLst>
              </p:cNvPr>
              <p:cNvSpPr/>
              <p:nvPr/>
            </p:nvSpPr>
            <p:spPr>
              <a:xfrm>
                <a:off x="10336437" y="3918060"/>
                <a:ext cx="247638" cy="433787"/>
              </a:xfrm>
              <a:prstGeom prst="rect">
                <a:avLst/>
              </a:prstGeom>
              <a:solidFill>
                <a:srgbClr val="F6CE4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636E0DB3-9F93-5B80-0D5D-05F191B7D22D}"/>
                  </a:ext>
                </a:extLst>
              </p:cNvPr>
              <p:cNvSpPr/>
              <p:nvPr/>
            </p:nvSpPr>
            <p:spPr>
              <a:xfrm>
                <a:off x="10694811" y="3956266"/>
                <a:ext cx="247638" cy="395582"/>
              </a:xfrm>
              <a:prstGeom prst="rect">
                <a:avLst/>
              </a:prstGeom>
              <a:solidFill>
                <a:srgbClr val="2C68A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7" name="组合 96">
                <a:extLst>
                  <a:ext uri="{FF2B5EF4-FFF2-40B4-BE49-F238E27FC236}">
                    <a16:creationId xmlns:a16="http://schemas.microsoft.com/office/drawing/2014/main" id="{DD6916FE-F17F-EE8F-C58B-D796F4E4333C}"/>
                  </a:ext>
                </a:extLst>
              </p:cNvPr>
              <p:cNvGrpSpPr/>
              <p:nvPr/>
            </p:nvGrpSpPr>
            <p:grpSpPr>
              <a:xfrm>
                <a:off x="10336437" y="2696434"/>
                <a:ext cx="760047" cy="401314"/>
                <a:chOff x="7661421" y="2579760"/>
                <a:chExt cx="760047" cy="401314"/>
              </a:xfrm>
            </p:grpSpPr>
            <p:grpSp>
              <p:nvGrpSpPr>
                <p:cNvPr id="98" name="组合 97">
                  <a:extLst>
                    <a:ext uri="{FF2B5EF4-FFF2-40B4-BE49-F238E27FC236}">
                      <a16:creationId xmlns:a16="http://schemas.microsoft.com/office/drawing/2014/main" id="{7CF16BE9-2032-39E8-9262-9C04FD6FA33E}"/>
                    </a:ext>
                  </a:extLst>
                </p:cNvPr>
                <p:cNvGrpSpPr/>
                <p:nvPr/>
              </p:nvGrpSpPr>
              <p:grpSpPr>
                <a:xfrm>
                  <a:off x="7661421" y="2579760"/>
                  <a:ext cx="760045" cy="230832"/>
                  <a:chOff x="7661421" y="2579760"/>
                  <a:chExt cx="760045" cy="230832"/>
                </a:xfrm>
              </p:grpSpPr>
              <p:sp>
                <p:nvSpPr>
                  <p:cNvPr id="102" name="矩形 101">
                    <a:extLst>
                      <a:ext uri="{FF2B5EF4-FFF2-40B4-BE49-F238E27FC236}">
                        <a16:creationId xmlns:a16="http://schemas.microsoft.com/office/drawing/2014/main" id="{50BD19C9-AC1A-DED7-9F3A-3DB93297D857}"/>
                      </a:ext>
                    </a:extLst>
                  </p:cNvPr>
                  <p:cNvSpPr/>
                  <p:nvPr/>
                </p:nvSpPr>
                <p:spPr>
                  <a:xfrm>
                    <a:off x="7661421" y="2659176"/>
                    <a:ext cx="72000" cy="72000"/>
                  </a:xfrm>
                  <a:prstGeom prst="rect">
                    <a:avLst/>
                  </a:prstGeom>
                  <a:solidFill>
                    <a:srgbClr val="F6CE45"/>
                  </a:solidFill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3" name="文本框 102">
                    <a:extLst>
                      <a:ext uri="{FF2B5EF4-FFF2-40B4-BE49-F238E27FC236}">
                        <a16:creationId xmlns:a16="http://schemas.microsoft.com/office/drawing/2014/main" id="{09FCD3CC-D488-6B62-2CC4-45D47D2530C5}"/>
                      </a:ext>
                    </a:extLst>
                  </p:cNvPr>
                  <p:cNvSpPr txBox="1"/>
                  <p:nvPr/>
                </p:nvSpPr>
                <p:spPr>
                  <a:xfrm>
                    <a:off x="7704888" y="2579760"/>
                    <a:ext cx="716578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900" dirty="0"/>
                      <a:t>内参基因</a:t>
                    </a:r>
                  </a:p>
                </p:txBody>
              </p:sp>
            </p:grpSp>
            <p:grpSp>
              <p:nvGrpSpPr>
                <p:cNvPr id="99" name="组合 98">
                  <a:extLst>
                    <a:ext uri="{FF2B5EF4-FFF2-40B4-BE49-F238E27FC236}">
                      <a16:creationId xmlns:a16="http://schemas.microsoft.com/office/drawing/2014/main" id="{18ED8E9A-E039-8D18-C86D-28C3D5A7C845}"/>
                    </a:ext>
                  </a:extLst>
                </p:cNvPr>
                <p:cNvGrpSpPr/>
                <p:nvPr/>
              </p:nvGrpSpPr>
              <p:grpSpPr>
                <a:xfrm>
                  <a:off x="7661421" y="2750242"/>
                  <a:ext cx="760047" cy="230832"/>
                  <a:chOff x="7661421" y="2725378"/>
                  <a:chExt cx="760047" cy="230832"/>
                </a:xfrm>
              </p:grpSpPr>
              <p:sp>
                <p:nvSpPr>
                  <p:cNvPr id="100" name="矩形 99">
                    <a:extLst>
                      <a:ext uri="{FF2B5EF4-FFF2-40B4-BE49-F238E27FC236}">
                        <a16:creationId xmlns:a16="http://schemas.microsoft.com/office/drawing/2014/main" id="{75350059-D15F-0E6F-7A36-92DFD4ABCD8F}"/>
                      </a:ext>
                    </a:extLst>
                  </p:cNvPr>
                  <p:cNvSpPr/>
                  <p:nvPr/>
                </p:nvSpPr>
                <p:spPr>
                  <a:xfrm>
                    <a:off x="7661421" y="2804794"/>
                    <a:ext cx="72000" cy="72000"/>
                  </a:xfrm>
                  <a:prstGeom prst="rect">
                    <a:avLst/>
                  </a:prstGeom>
                  <a:solidFill>
                    <a:srgbClr val="2C68A2"/>
                  </a:solidFill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1" name="文本框 100">
                    <a:extLst>
                      <a:ext uri="{FF2B5EF4-FFF2-40B4-BE49-F238E27FC236}">
                        <a16:creationId xmlns:a16="http://schemas.microsoft.com/office/drawing/2014/main" id="{4BAB6E6E-124C-BD5D-9394-6713F3EDB930}"/>
                      </a:ext>
                    </a:extLst>
                  </p:cNvPr>
                  <p:cNvSpPr txBox="1"/>
                  <p:nvPr/>
                </p:nvSpPr>
                <p:spPr>
                  <a:xfrm>
                    <a:off x="7704888" y="2725378"/>
                    <a:ext cx="716580" cy="2308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zh-CN" altLang="en-US" sz="900" dirty="0"/>
                      <a:t>目的基因</a:t>
                    </a:r>
                  </a:p>
                </p:txBody>
              </p:sp>
            </p:grpSp>
          </p:grpSp>
          <p:cxnSp>
            <p:nvCxnSpPr>
              <p:cNvPr id="105" name="直接连接符 104">
                <a:extLst>
                  <a:ext uri="{FF2B5EF4-FFF2-40B4-BE49-F238E27FC236}">
                    <a16:creationId xmlns:a16="http://schemas.microsoft.com/office/drawing/2014/main" id="{6D5601E2-8FE6-1D78-CCA6-AD88E2BB61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47914" y="3918060"/>
                <a:ext cx="219456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FDE05A1B-FE27-5913-C9DC-072F70AA7513}"/>
                  </a:ext>
                </a:extLst>
              </p:cNvPr>
              <p:cNvSpPr txBox="1"/>
              <p:nvPr/>
            </p:nvSpPr>
            <p:spPr>
              <a:xfrm>
                <a:off x="8829016" y="3674095"/>
                <a:ext cx="56938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/>
                  <a:t>归一化</a:t>
                </a:r>
              </a:p>
            </p:txBody>
          </p:sp>
        </p:grp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38D36196-04E6-1526-101C-364433194694}"/>
                </a:ext>
              </a:extLst>
            </p:cNvPr>
            <p:cNvSpPr txBox="1"/>
            <p:nvPr/>
          </p:nvSpPr>
          <p:spPr>
            <a:xfrm>
              <a:off x="7064839" y="4389347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dirty="0"/>
                <a:t>原始数据</a:t>
              </a: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ED2F0709-1B88-ABD3-DA88-1662BCD01BEA}"/>
                </a:ext>
              </a:extLst>
            </p:cNvPr>
            <p:cNvSpPr txBox="1"/>
            <p:nvPr/>
          </p:nvSpPr>
          <p:spPr>
            <a:xfrm>
              <a:off x="9808095" y="4389347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dirty="0"/>
                <a:t>矫正数据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5159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26</Words>
  <Application>Microsoft Office PowerPoint</Application>
  <PresentationFormat>宽屏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Haizhao T.</dc:creator>
  <cp:lastModifiedBy>Haizhao T.</cp:lastModifiedBy>
  <cp:revision>3</cp:revision>
  <dcterms:created xsi:type="dcterms:W3CDTF">2026-06-15T10:05:26Z</dcterms:created>
  <dcterms:modified xsi:type="dcterms:W3CDTF">2026-06-15T12:47:58Z</dcterms:modified>
</cp:coreProperties>
</file>